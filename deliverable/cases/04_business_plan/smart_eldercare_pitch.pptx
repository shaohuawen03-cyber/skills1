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p_cover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097280"/>
            <a:ext cx="768096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463040"/>
            <a:ext cx="3840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智护银龄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AI 居家养老健康监测系统</a:t>
            </a:r>
          </a:p>
          <a:p>
            <a:pPr>
              <a:defRPr sz="1600">
                <a:solidFill>
                  <a:srgbClr val="FFFFFF"/>
                </a:solidFill>
              </a:defRPr>
            </a:pP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天使轮融资路演（BP）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拟融资 500 万元 · 出让 12% 股权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投前估值 3,667 万元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2026 年 10 月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（教学演示案例 · 数据为示例测算）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90527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执行摘要：让每个家庭都有一双"不休息的眼睛"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一页看懂本项目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2C3742"/>
                </a:solidFill>
              </a:defRPr>
            </a:pPr>
            <a:r>
              <a:t>智护银龄 · AI 居家养老健康监测系统 · 天使轮融资路演（示例教学版）</a:t>
            </a:r>
          </a:p>
        </p:txBody>
      </p:sp>
      <p:sp>
        <p:nvSpPr>
          <p:cNvPr id="5" name="Oval 4"/>
          <p:cNvSpPr/>
          <p:nvPr/>
        </p:nvSpPr>
        <p:spPr>
          <a:xfrm>
            <a:off x="11505895" y="6199632"/>
            <a:ext cx="411480" cy="41148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3566160" cy="2194560"/>
          </a:xfrm>
          <a:prstGeom prst="roundRect">
            <a:avLst/>
          </a:prstGeom>
          <a:solidFill>
            <a:srgbClr val="DEEBF7"/>
          </a:solidFill>
          <a:ln>
            <a:solidFill>
              <a:srgbClr val="DE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F4E79"/>
                </a:solidFill>
              </a:defRPr>
            </a:pPr>
            <a:r>
              <a:t>市场</a:t>
            </a:r>
          </a:p>
          <a:p>
            <a:pPr>
              <a:defRPr sz="1100">
                <a:solidFill>
                  <a:srgbClr val="2C3742"/>
                </a:solidFill>
              </a:defRPr>
            </a:pPr>
            <a:r>
              <a:t>银发经济超 7 万亿</a:t>
            </a:r>
          </a:p>
          <a:p>
            <a:pPr>
              <a:defRPr sz="1100">
                <a:solidFill>
                  <a:srgbClr val="2C3742"/>
                </a:solidFill>
              </a:defRPr>
            </a:pPr>
            <a:r>
              <a:t>居家智能监测年复合增长 34.8%</a:t>
            </a:r>
          </a:p>
          <a:p>
            <a:pPr>
              <a:defRPr sz="1100">
                <a:solidFill>
                  <a:srgbClr val="2C3742"/>
                </a:solidFill>
              </a:defRPr>
            </a:pPr>
            <a:r>
              <a:t>政策：家庭养老床位试点扩围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566160" cy="2194560"/>
          </a:xfrm>
          <a:prstGeom prst="roundRect">
            <a:avLst/>
          </a:prstGeom>
          <a:solidFill>
            <a:srgbClr val="E2F0E0"/>
          </a:solidFill>
          <a:ln>
            <a:solidFill>
              <a:srgbClr val="E2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79056"/>
                </a:solidFill>
              </a:defRPr>
            </a:pPr>
            <a:r>
              <a:t>产品</a:t>
            </a:r>
          </a:p>
          <a:p>
            <a:pPr>
              <a:defRPr sz="1100">
                <a:solidFill>
                  <a:srgbClr val="2C3742"/>
                </a:solidFill>
              </a:defRPr>
            </a:pPr>
            <a:r>
              <a:t>毫米波雷达 + AI 跌倒检测</a:t>
            </a:r>
          </a:p>
          <a:p>
            <a:pPr>
              <a:defRPr sz="1100">
                <a:solidFill>
                  <a:srgbClr val="2C3742"/>
                </a:solidFill>
              </a:defRPr>
            </a:pPr>
            <a:r>
              <a:t>SaaS 服务平台 + 家属小程序</a:t>
            </a:r>
          </a:p>
          <a:p>
            <a:pPr>
              <a:defRPr sz="1100">
                <a:solidFill>
                  <a:srgbClr val="2C3742"/>
                </a:solidFill>
              </a:defRPr>
            </a:pPr>
            <a:r>
              <a:t>无摄像头、适老化、隐私友好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371600"/>
            <a:ext cx="3383280" cy="2194560"/>
          </a:xfrm>
          <a:prstGeom prst="roundRect">
            <a:avLst/>
          </a:prstGeom>
          <a:solidFill>
            <a:srgbClr val="FFECDC"/>
          </a:solidFill>
          <a:ln>
            <a:solidFill>
              <a:srgbClr val="FFE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ED7D31"/>
                </a:solidFill>
              </a:defRPr>
            </a:pPr>
            <a:r>
              <a:t>业绩</a:t>
            </a:r>
          </a:p>
          <a:p>
            <a:pPr>
              <a:defRPr sz="1100">
                <a:solidFill>
                  <a:srgbClr val="2C3742"/>
                </a:solidFill>
              </a:defRPr>
            </a:pPr>
            <a:r>
              <a:t>试点社区 32 个、在网设备 1,800 台</a:t>
            </a:r>
          </a:p>
          <a:p>
            <a:pPr>
              <a:defRPr sz="1100">
                <a:solidFill>
                  <a:srgbClr val="2C3742"/>
                </a:solidFill>
              </a:defRPr>
            </a:pPr>
            <a:r>
              <a:t>付费转化率 41%、续费率 86%</a:t>
            </a:r>
          </a:p>
          <a:p>
            <a:pPr>
              <a:defRPr sz="1100">
                <a:solidFill>
                  <a:srgbClr val="2C3742"/>
                </a:solidFill>
              </a:defRPr>
            </a:pPr>
            <a:r>
              <a:t>月流水 38 万元、环比 +22%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840480"/>
            <a:ext cx="10972800" cy="1920240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融资诉求：本轮拟融资 500 万元，出让 12% 股权（投前估值 3,667 万元）</a:t>
            </a:r>
          </a:p>
          <a:p>
            <a:pPr>
              <a:defRPr sz="1100">
                <a:solidFill>
                  <a:srgbClr val="2C3742"/>
                </a:solidFill>
              </a:defRPr>
            </a:pPr>
            <a:r>
              <a:t>资金用途：研发 40%（算法与硬件迭代）· 市场 30%（城市合伙人与社区渠道）· 供应链 20% · 运营 10%</a:t>
            </a:r>
          </a:p>
          <a:p>
            <a:pPr>
              <a:defRPr sz="1100">
                <a:solidFill>
                  <a:srgbClr val="2C3742"/>
                </a:solidFill>
              </a:defRPr>
            </a:pPr>
            <a:r>
              <a:t>2027 年目标：在网设备 2.4 万台、营收 4,800 万元、盈亏平衡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90527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行业痛点：独居老人"跌倒 1 小时无人知"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存量市场四大未解痛点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2C3742"/>
                </a:solidFill>
              </a:defRPr>
            </a:pPr>
            <a:r>
              <a:t>智护银龄 · AI 居家养老健康监测系统 · 天使轮融资路演（示例教学版）</a:t>
            </a:r>
          </a:p>
        </p:txBody>
      </p:sp>
      <p:sp>
        <p:nvSpPr>
          <p:cNvPr id="5" name="Oval 4"/>
          <p:cNvSpPr/>
          <p:nvPr/>
        </p:nvSpPr>
        <p:spPr>
          <a:xfrm>
            <a:off x="11505895" y="6199632"/>
            <a:ext cx="411480" cy="41148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2697480" cy="3108960"/>
          </a:xfrm>
          <a:prstGeom prst="roundRect">
            <a:avLst/>
          </a:prstGeom>
          <a:solidFill>
            <a:srgbClr val="DEEBF7"/>
          </a:solidFill>
          <a:ln>
            <a:solidFill>
              <a:srgbClr val="DE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F4E79"/>
                </a:solidFill>
              </a:defRPr>
            </a:pPr>
            <a:r>
              <a:t>痛点一 · 发现难</a:t>
            </a:r>
          </a:p>
          <a:p>
            <a:pPr>
              <a:defRPr sz="1100">
                <a:solidFill>
                  <a:srgbClr val="2C3742"/>
                </a:solidFill>
              </a:defRPr>
            </a:pPr>
            <a:r>
              <a:t>跌倒后平均 3-6 小时才被发现</a:t>
            </a:r>
          </a:p>
          <a:p>
            <a:pPr>
              <a:defRPr sz="1100">
                <a:solidFill>
                  <a:srgbClr val="2C3742"/>
                </a:solidFill>
              </a:defRPr>
            </a:pPr>
            <a:r>
              <a:t>独居/空巢家庭占比持续攀升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463040"/>
            <a:ext cx="2697480" cy="3108960"/>
          </a:xfrm>
          <a:prstGeom prst="roundRect">
            <a:avLst/>
          </a:prstGeom>
          <a:solidFill>
            <a:srgbClr val="FFECDC"/>
          </a:solidFill>
          <a:ln>
            <a:solidFill>
              <a:srgbClr val="FFE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ED7D31"/>
                </a:solidFill>
              </a:defRPr>
            </a:pPr>
            <a:r>
              <a:t>痛点二 · 监测侵入</a:t>
            </a:r>
          </a:p>
          <a:p>
            <a:pPr>
              <a:defRPr sz="1100">
                <a:solidFill>
                  <a:srgbClr val="2C3742"/>
                </a:solidFill>
              </a:defRPr>
            </a:pPr>
            <a:r>
              <a:t>摄像头方案隐私顾虑重</a:t>
            </a:r>
          </a:p>
          <a:p>
            <a:pPr>
              <a:defRPr sz="1100">
                <a:solidFill>
                  <a:srgbClr val="2C3742"/>
                </a:solidFill>
              </a:defRPr>
            </a:pPr>
            <a:r>
              <a:t>卧室卫生间不敢装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63040"/>
            <a:ext cx="2697480" cy="3108960"/>
          </a:xfrm>
          <a:prstGeom prst="roundRect">
            <a:avLst/>
          </a:prstGeom>
          <a:solidFill>
            <a:srgbClr val="DEEBF7"/>
          </a:solidFill>
          <a:ln>
            <a:solidFill>
              <a:srgbClr val="DE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F4E79"/>
                </a:solidFill>
              </a:defRPr>
            </a:pPr>
            <a:r>
              <a:t>痛点三 · 告警失灵</a:t>
            </a:r>
          </a:p>
          <a:p>
            <a:pPr>
              <a:defRPr sz="1100">
                <a:solidFill>
                  <a:srgbClr val="2C3742"/>
                </a:solidFill>
              </a:defRPr>
            </a:pPr>
            <a:r>
              <a:t>穿戴设备老人不愿戴/常忘充电</a:t>
            </a:r>
          </a:p>
          <a:p>
            <a:pPr>
              <a:defRPr sz="1100">
                <a:solidFill>
                  <a:srgbClr val="2C3742"/>
                </a:solidFill>
              </a:defRPr>
            </a:pPr>
            <a:r>
              <a:t>误报多、家属疲劳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0" y="1463040"/>
            <a:ext cx="2697480" cy="3108960"/>
          </a:xfrm>
          <a:prstGeom prst="roundRect">
            <a:avLst/>
          </a:prstGeom>
          <a:solidFill>
            <a:srgbClr val="FFECDC"/>
          </a:solidFill>
          <a:ln>
            <a:solidFill>
              <a:srgbClr val="FFE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ED7D31"/>
                </a:solidFill>
              </a:defRPr>
            </a:pPr>
            <a:r>
              <a:t>痛点四 · 服务断层</a:t>
            </a:r>
          </a:p>
          <a:p>
            <a:pPr>
              <a:defRPr sz="1100">
                <a:solidFill>
                  <a:srgbClr val="2C3742"/>
                </a:solidFill>
              </a:defRPr>
            </a:pPr>
            <a:r>
              <a:t>硬件卖完无人管</a:t>
            </a:r>
          </a:p>
          <a:p>
            <a:pPr>
              <a:defRPr sz="1100">
                <a:solidFill>
                  <a:srgbClr val="2C3742"/>
                </a:solidFill>
              </a:defRPr>
            </a:pPr>
            <a:r>
              <a:t>健康数据没人解读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846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C3742"/>
                </a:solidFill>
              </a:defRPr>
            </a:pPr>
            <a:r>
              <a:t>结论：市场需要"非穿戴、无摄像头、能告警、有人管"的一体化居家安全监测方案。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90527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市场机遇：三层漏斗锁定 1.2 亿可触达市场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TAM / SAM / SOM（示例测算口径）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2C3742"/>
                </a:solidFill>
              </a:defRPr>
            </a:pPr>
            <a:r>
              <a:t>智护银龄 · AI 居家养老健康监测系统 · 天使轮融资路演（示例教学版）</a:t>
            </a:r>
          </a:p>
        </p:txBody>
      </p:sp>
      <p:sp>
        <p:nvSpPr>
          <p:cNvPr id="5" name="Oval 4"/>
          <p:cNvSpPr/>
          <p:nvPr/>
        </p:nvSpPr>
        <p:spPr>
          <a:xfrm>
            <a:off x="11505895" y="6199632"/>
            <a:ext cx="411480" cy="41148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371600"/>
          <a:ext cx="10515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59436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层级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口径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规模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依据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200"/>
                        <a:t>TAM 总潜在市场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中国银发科技及居家智能健康监测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12,000 亿元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银发经济总规模超 7 万亿，智慧养老渗透率约 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200"/>
                        <a:t>SAM 可服务市场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居家健康监测硬件 + SaaS 服务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3,800 亿元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居家场景占智慧养老支出约 54%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200"/>
                        <a:t>SOM 首年可触达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长三角 6 城社区渠道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1.2 亿元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试点渠道 32 社区 → 120 社区、在网 2.4 万台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4114800"/>
            <a:ext cx="10515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C3742"/>
                </a:solidFill>
              </a:defRPr>
            </a:pPr>
            <a:r>
              <a:t>增长驱动：家庭养老床位试点补贴扩围、长护险试点城市增加、子女远程照护付费意愿提升。</a:t>
            </a:r>
          </a:p>
          <a:p>
            <a:pPr>
              <a:spcAft>
                <a:spcPts val="600"/>
              </a:spcAft>
              <a:defRPr sz="1500">
                <a:solidFill>
                  <a:srgbClr val="2C3742"/>
                </a:solidFill>
              </a:defRPr>
            </a:pPr>
            <a:r>
              <a:t>竞争窗口：行业仍以"卖硬件"为主，"监测 + 告警 + 健康服务"订阅制是待占位的空白带。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90527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产品方案：一个雷达 + 一个平台 + 一套服务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产品与解决方案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2C3742"/>
                </a:solidFill>
              </a:defRPr>
            </a:pPr>
            <a:r>
              <a:t>智护银龄 · AI 居家养老健康监测系统 · 天使轮融资路演（示例教学版）</a:t>
            </a:r>
          </a:p>
        </p:txBody>
      </p:sp>
      <p:sp>
        <p:nvSpPr>
          <p:cNvPr id="5" name="Oval 4"/>
          <p:cNvSpPr/>
          <p:nvPr/>
        </p:nvSpPr>
        <p:spPr>
          <a:xfrm>
            <a:off x="11505895" y="6199632"/>
            <a:ext cx="411480" cy="41148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371600"/>
          <a:ext cx="109728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585216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组件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形态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核心功能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适老化设计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100"/>
                        <a:t>感知终端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毫米波雷达 + 边缘 AI 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跌倒检测、起夜轨迹、心率呼吸率初筛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无摄像头、免穿戴、通电即用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100"/>
                        <a:t>SaaS 平台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机构/社区 Web 端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告警分级派单、健康周报、设备管理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大字版界面、语音外呼确认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100"/>
                        <a:t>家属小程序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微信小程序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实时状态、告警推送、远程关怀日历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一键呼叫、亲情相册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100"/>
                        <a:t>健康服务包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人工 + AI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月度健康报告、用药提醒、绿通转诊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7×24 值班响应 SOP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90527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3 大核心壁垒：算法 · 数据 · 渠道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为什么是我们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2C3742"/>
                </a:solidFill>
              </a:defRPr>
            </a:pPr>
            <a:r>
              <a:t>智护银龄 · AI 居家养老健康监测系统 · 天使轮融资路演（示例教学版）</a:t>
            </a:r>
          </a:p>
        </p:txBody>
      </p:sp>
      <p:sp>
        <p:nvSpPr>
          <p:cNvPr id="5" name="Oval 4"/>
          <p:cNvSpPr/>
          <p:nvPr/>
        </p:nvSpPr>
        <p:spPr>
          <a:xfrm>
            <a:off x="11505895" y="6199632"/>
            <a:ext cx="411480" cy="41148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3566160" cy="3931920"/>
          </a:xfrm>
          <a:prstGeom prst="roundRect">
            <a:avLst/>
          </a:prstGeom>
          <a:solidFill>
            <a:srgbClr val="DEEBF7"/>
          </a:solidFill>
          <a:ln>
            <a:solidFill>
              <a:srgbClr val="DE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F4E79"/>
                </a:solidFill>
              </a:defRPr>
            </a:pPr>
            <a:r>
              <a:t>壁垒一 · 跌倒检测算法</a:t>
            </a:r>
          </a:p>
          <a:p>
            <a:pPr>
              <a:defRPr sz="1100">
                <a:solidFill>
                  <a:srgbClr val="2C3742"/>
                </a:solidFill>
              </a:defRPr>
            </a:pPr>
            <a:r>
              <a:t>自研毫米波点云 + 行为序列双流模型</a:t>
            </a:r>
          </a:p>
          <a:p>
            <a:pPr>
              <a:defRPr sz="1100">
                <a:solidFill>
                  <a:srgbClr val="2C3742"/>
                </a:solidFill>
              </a:defRPr>
            </a:pPr>
            <a:r>
              <a:t>准确率 97.3%、误报 &lt; 0.8 次/户/月</a:t>
            </a:r>
          </a:p>
          <a:p>
            <a:pPr>
              <a:defRPr sz="1100">
                <a:solidFill>
                  <a:srgbClr val="2C3742"/>
                </a:solidFill>
              </a:defRPr>
            </a:pPr>
            <a:r>
              <a:t>已受理发明专利 2 项、软著 4 项</a:t>
            </a:r>
          </a:p>
          <a:p>
            <a:pPr>
              <a:defRPr sz="1100">
                <a:solidFill>
                  <a:srgbClr val="2C3742"/>
                </a:solidFill>
              </a:defRPr>
            </a:pPr>
            <a:r>
              <a:t>老年体态长尾数据持续反哺迭代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566160" cy="3931920"/>
          </a:xfrm>
          <a:prstGeom prst="roundRect">
            <a:avLst/>
          </a:prstGeom>
          <a:solidFill>
            <a:srgbClr val="E2F0E0"/>
          </a:solidFill>
          <a:ln>
            <a:solidFill>
              <a:srgbClr val="E2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79056"/>
                </a:solidFill>
              </a:defRPr>
            </a:pPr>
            <a:r>
              <a:t>壁垒二 · 运营数据闭环</a:t>
            </a:r>
          </a:p>
          <a:p>
            <a:pPr>
              <a:defRPr sz="1100">
                <a:solidFill>
                  <a:srgbClr val="2C3742"/>
                </a:solidFill>
              </a:defRPr>
            </a:pPr>
            <a:r>
              <a:t>在网设备日均行为数据 1,800 台</a:t>
            </a:r>
          </a:p>
          <a:p>
            <a:pPr>
              <a:defRPr sz="1100">
                <a:solidFill>
                  <a:srgbClr val="2C3742"/>
                </a:solidFill>
              </a:defRPr>
            </a:pPr>
            <a:r>
              <a:t>告警-核实-处置全链路数据沉淀</a:t>
            </a:r>
          </a:p>
          <a:p>
            <a:pPr>
              <a:defRPr sz="1100">
                <a:solidFill>
                  <a:srgbClr val="2C3742"/>
                </a:solidFill>
              </a:defRPr>
            </a:pPr>
            <a:r>
              <a:t>健康风险模型随服务时长变准</a:t>
            </a:r>
          </a:p>
          <a:p>
            <a:pPr>
              <a:defRPr sz="1100">
                <a:solidFill>
                  <a:srgbClr val="2C3742"/>
                </a:solidFill>
              </a:defRPr>
            </a:pPr>
            <a:r>
              <a:t>续费率 86% 构成数据护城河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463040"/>
            <a:ext cx="3383280" cy="3931920"/>
          </a:xfrm>
          <a:prstGeom prst="roundRect">
            <a:avLst/>
          </a:prstGeom>
          <a:solidFill>
            <a:srgbClr val="FFECDC"/>
          </a:solidFill>
          <a:ln>
            <a:solidFill>
              <a:srgbClr val="FFE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ED7D31"/>
                </a:solidFill>
              </a:defRPr>
            </a:pPr>
            <a:r>
              <a:t>壁垒三 · 社区渠道网络</a:t>
            </a:r>
          </a:p>
          <a:p>
            <a:pPr>
              <a:defRPr sz="1100">
                <a:solidFill>
                  <a:srgbClr val="2C3742"/>
                </a:solidFill>
              </a:defRPr>
            </a:pPr>
            <a:r>
              <a:t>与 32 个社区/街道签约共建</a:t>
            </a:r>
          </a:p>
          <a:p>
            <a:pPr>
              <a:defRPr sz="1100">
                <a:solidFill>
                  <a:srgbClr val="2C3742"/>
                </a:solidFill>
              </a:defRPr>
            </a:pPr>
            <a:r>
              <a:t>物业 + 居家养老服务站双入口</a:t>
            </a:r>
          </a:p>
          <a:p>
            <a:pPr>
              <a:defRPr sz="1100">
                <a:solidFill>
                  <a:srgbClr val="2C3742"/>
                </a:solidFill>
              </a:defRPr>
            </a:pPr>
            <a:r>
              <a:t>城市合伙人模式可快速复制</a:t>
            </a:r>
          </a:p>
          <a:p>
            <a:pPr>
              <a:defRPr sz="1100">
                <a:solidFill>
                  <a:srgbClr val="2C3742"/>
                </a:solidFill>
              </a:defRPr>
            </a:pPr>
            <a:r>
              <a:t>服务半径 3 公里、响应 &lt; 30 分钟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90527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商业模式：硬件微利 + 订阅服务赚钱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单位经济模型（单户/年，示例）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2C3742"/>
                </a:solidFill>
              </a:defRPr>
            </a:pPr>
            <a:r>
              <a:t>智护银龄 · AI 居家养老健康监测系统 · 天使轮融资路演（示例教学版）</a:t>
            </a:r>
          </a:p>
        </p:txBody>
      </p:sp>
      <p:sp>
        <p:nvSpPr>
          <p:cNvPr id="5" name="Oval 4"/>
          <p:cNvSpPr/>
          <p:nvPr/>
        </p:nvSpPr>
        <p:spPr>
          <a:xfrm>
            <a:off x="11505895" y="6199632"/>
            <a:ext cx="411480" cy="41148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371600"/>
          <a:ext cx="10515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512064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数值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说明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200"/>
                        <a:t>硬件客单价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699 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含安装，毛利率约 28%，引流型定价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200"/>
                        <a:t>服务订阅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99 元/月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健康服务包 + 告警值班，毛利率 62%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200"/>
                        <a:t>单户年收入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1,887 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首购 + 订阅；LTV（3 年）约 4,900 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200"/>
                        <a:t>单户获客成本 CAC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约 520 元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社区渠道 + 转介绍，回本周期 &lt; 5 个月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420624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C3742"/>
                </a:solidFill>
              </a:defRPr>
            </a:pPr>
            <a:r>
              <a:t>收入结构目标（2027）：订阅服务 55% + 硬件 35% + 增值（健康报告/转诊）10%。</a:t>
            </a:r>
          </a:p>
          <a:p>
            <a:pPr>
              <a:spcAft>
                <a:spcPts val="600"/>
              </a:spcAft>
              <a:defRPr sz="1500">
                <a:solidFill>
                  <a:srgbClr val="2C3742"/>
                </a:solidFill>
              </a:defRPr>
            </a:pPr>
            <a:r>
              <a:t>规模化抓手：城市合伙人（设备押金 + 流水分成）与机构集采（养老院/日间照料中心）。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90527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竞争格局：差异化切入"监测 + 服务"空白带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五维对比（示意）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2C3742"/>
                </a:solidFill>
              </a:defRPr>
            </a:pPr>
            <a:r>
              <a:t>智护银龄 · AI 居家养老健康监测系统 · 天使轮融资路演（示例教学版）</a:t>
            </a:r>
          </a:p>
        </p:txBody>
      </p:sp>
      <p:sp>
        <p:nvSpPr>
          <p:cNvPr id="5" name="Oval 4"/>
          <p:cNvSpPr/>
          <p:nvPr/>
        </p:nvSpPr>
        <p:spPr>
          <a:xfrm>
            <a:off x="11505895" y="6199632"/>
            <a:ext cx="411480" cy="41148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371600"/>
          <a:ext cx="109728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54864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维度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本项目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A 摄像头方案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B 穿戴设备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C 传统呼叫器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/>
                        <a:t>隐私友好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优（无摄像头）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/>
                        <a:t>跌倒识别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优（97.3%）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良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良（佩戴依赖）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无（需手动按）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/>
                        <a:t>误报控制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优（&lt;0.8/月）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/>
                        <a:t>健康服务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优（订阅制）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弱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中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无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/>
                        <a:t>年持有成本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1,887 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约 1,200 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约 2,400 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约 400 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8463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C3742"/>
                </a:solidFill>
              </a:defRPr>
            </a:pPr>
            <a:r>
              <a:t>切入策略：以"非穿戴无摄像头"建立信任，以"告警有人管"完成付费转化，以健康服务锁定续费。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90527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GTM 路线图：社区样板 → 城市合伙人 → 机构集采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18 个月三个阶段（KPI 里程碑）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2C3742"/>
                </a:solidFill>
              </a:defRPr>
            </a:pPr>
            <a:r>
              <a:t>智护银龄 · AI 居家养老健康监测系统 · 天使轮融资路演（示例教学版）</a:t>
            </a:r>
          </a:p>
        </p:txBody>
      </p:sp>
      <p:sp>
        <p:nvSpPr>
          <p:cNvPr id="5" name="Oval 4"/>
          <p:cNvSpPr/>
          <p:nvPr/>
        </p:nvSpPr>
        <p:spPr>
          <a:xfrm>
            <a:off x="11505895" y="6199632"/>
            <a:ext cx="411480" cy="41148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371600"/>
          <a:ext cx="105156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77724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阶段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时间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目标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关键动作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200"/>
                        <a:t>样板期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2026H2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在网 3,000 台 / 月流水 80 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深耕 6 城 120 社区，跑通"检测+值班+报告"SOP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200"/>
                        <a:t>复制期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2027H1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在网 1.2 万台 / 城市合伙人 20 城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合伙人招募培训体系、供应链备货 5 万台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200"/>
                        <a:t>规模期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2027H2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在网 2.4 万台 / 营收 4,800 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机构集采、长护险渠道合作、健康服务分层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47548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C3742"/>
                </a:solidFill>
              </a:defRPr>
            </a:pPr>
            <a:r>
              <a:t>北极星指标：在网活跃设备数 × 订阅续费率；辅指标：告警处置及时率 &gt; 98%。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90527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核心团队与股权结构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黄金三角：硬件 + 算法 + 养老运营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2C3742"/>
                </a:solidFill>
              </a:defRPr>
            </a:pPr>
            <a:r>
              <a:t>智护银龄 · AI 居家养老健康监测系统 · 天使轮融资路演（示例教学版）</a:t>
            </a:r>
          </a:p>
        </p:txBody>
      </p:sp>
      <p:sp>
        <p:nvSpPr>
          <p:cNvPr id="5" name="Oval 4"/>
          <p:cNvSpPr/>
          <p:nvPr/>
        </p:nvSpPr>
        <p:spPr>
          <a:xfrm>
            <a:off x="11505895" y="6199632"/>
            <a:ext cx="411480" cy="41148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371600"/>
          <a:ext cx="10515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475488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成员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背景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职责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持股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/>
                        <a:t>CEO 王××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10 年智能硬件产品与供应链，前上市养老科技公司产品总监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战略 / 融资 / 供应链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46%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/>
                        <a:t>CTO 李××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985 博士，毫米波感知与人体行为识别，专利 6 项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算法 / 平台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26%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/>
                        <a:t>COO 张××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8 年居家养老服务运营，管理过 40 人照护团队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服务交付 / 城市合伙人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/>
                        <a:t>期权池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核心骨干与顾问预留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融资后扩充至 12%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12%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4114800"/>
            <a:ext cx="10515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C3742"/>
                </a:solidFill>
              </a:defRPr>
            </a:pPr>
            <a:r>
              <a:t>融资后股权结构（示例）：创始团队 74% + 天使投资人 12% + 期权池 12%（ESOP，4 年成熟）。</a:t>
            </a:r>
          </a:p>
          <a:p>
            <a:pPr>
              <a:spcAft>
                <a:spcPts val="600"/>
              </a:spcAft>
              <a:defRPr sz="1500">
                <a:solidFill>
                  <a:srgbClr val="2C3742"/>
                </a:solidFill>
              </a:defRPr>
            </a:pPr>
            <a:r>
              <a:t>治理安排：投资方一票否决权限于增发、并购、关联交易；季度董事会 + 月度经营报告。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90527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财务预测与融资方案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3 年核心财务预测（示例测算，单位：万元）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2C3742"/>
                </a:solidFill>
              </a:defRPr>
            </a:pPr>
            <a:r>
              <a:t>智护银龄 · AI 居家养老健康监测系统 · 天使轮融资路演（示例教学版）</a:t>
            </a:r>
          </a:p>
        </p:txBody>
      </p:sp>
      <p:sp>
        <p:nvSpPr>
          <p:cNvPr id="5" name="Oval 4"/>
          <p:cNvSpPr/>
          <p:nvPr/>
        </p:nvSpPr>
        <p:spPr>
          <a:xfrm>
            <a:off x="11505895" y="6199632"/>
            <a:ext cx="411480" cy="41148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371600"/>
          <a:ext cx="109728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42672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项目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2026H2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2027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2028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2029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100"/>
                        <a:t>营业收入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480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2,600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8,400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100"/>
                        <a:t>毛利率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36%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42%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48%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52%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100"/>
                        <a:t>研发 + 销售费用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310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520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1,420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3,300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100"/>
                        <a:t>净利润（EBITDA 口径）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-190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-120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260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1,340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100"/>
                        <a:t>期末在网设备（台）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3,000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12,000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24,000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4206240"/>
            <a:ext cx="10972800" cy="1645920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融资方案：本轮 500 万元 · 出让 12% · 投前估值 3,667 万元</a:t>
            </a:r>
          </a:p>
          <a:p>
            <a:pPr>
              <a:defRPr sz="1100">
                <a:solidFill>
                  <a:srgbClr val="2C3742"/>
                </a:solidFill>
              </a:defRPr>
            </a:pPr>
            <a:r>
              <a:t>资金用途：研发 40% ｜ 市场 30% ｜ 供应链 20% ｜ 运营 10%</a:t>
            </a:r>
          </a:p>
          <a:p>
            <a:pPr>
              <a:defRPr sz="1100">
                <a:solidFill>
                  <a:srgbClr val="2C3742"/>
                </a:solidFill>
              </a:defRPr>
            </a:pPr>
            <a:r>
              <a:t>里程碑承诺：2027 年在网 2.4 万台、营收 4,800 万元、盈亏平衡；投资回收期约 30 个月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90527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为什么是现在，为什么是我们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致投资人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2C3742"/>
                </a:solidFill>
              </a:defRPr>
            </a:pPr>
            <a:r>
              <a:t>智护银龄 · AI 居家养老健康监测系统 · 天使轮融资路演（示例教学版）</a:t>
            </a:r>
          </a:p>
        </p:txBody>
      </p:sp>
      <p:sp>
        <p:nvSpPr>
          <p:cNvPr id="5" name="Oval 4"/>
          <p:cNvSpPr/>
          <p:nvPr/>
        </p:nvSpPr>
        <p:spPr>
          <a:xfrm>
            <a:off x="11505895" y="6199632"/>
            <a:ext cx="411480" cy="41148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C3742"/>
                </a:solidFill>
              </a:defRPr>
            </a:pPr>
            <a:r>
              <a:t>① 政策与人口结构的确定性：家庭养老床位试点扩围，独居老人安全监测成为"必答题"。</a:t>
            </a:r>
          </a:p>
          <a:p>
            <a:pPr>
              <a:spcAft>
                <a:spcPts val="600"/>
              </a:spcAft>
              <a:defRPr sz="1800">
                <a:solidFill>
                  <a:srgbClr val="2C3742"/>
                </a:solidFill>
              </a:defRPr>
            </a:pPr>
            <a:r>
              <a:t>② 产品与数据的领先性：97.3% 跌倒识别、&lt;0.8 次/月误报、86% 续费率已在试点验证。</a:t>
            </a:r>
          </a:p>
          <a:p>
            <a:pPr>
              <a:spcAft>
                <a:spcPts val="600"/>
              </a:spcAft>
              <a:defRPr sz="1800">
                <a:solidFill>
                  <a:srgbClr val="2C3742"/>
                </a:solidFill>
              </a:defRPr>
            </a:pPr>
            <a:r>
              <a:t>③ 商业模型的可复制性：硬件引流 + 订阅盈利，单户回本 &lt; 5 个月，城市合伙人快速铺城。</a:t>
            </a:r>
          </a:p>
          <a:p>
            <a:pPr>
              <a:spcAft>
                <a:spcPts val="600"/>
              </a:spcAft>
              <a:defRPr sz="1800">
                <a:solidFill>
                  <a:srgbClr val="2C3742"/>
                </a:solidFill>
              </a:defRPr>
            </a:pPr>
            <a:r>
              <a:t>④ 团队的执行记录：18 个月从 0 到 32 社区、1,800 台在网设备，运营 SOP 已成型。</a:t>
            </a:r>
          </a:p>
          <a:p>
            <a:pPr>
              <a:spcAft>
                <a:spcPts val="600"/>
              </a:spcAft>
              <a:defRPr sz="1800">
                <a:solidFill>
                  <a:srgbClr val="2C3742"/>
                </a:solidFill>
              </a:defRPr>
            </a:pPr>
            <a:r>
              <a:t>诚邀共建：让技术有温度，让居家养老更安全。期待与您深聊。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