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urseware_illustration_aut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D47828"/>
                </a:solidFill>
              </a:defRPr>
            </a:pPr>
            <a:r>
              <a:t>《秋天的雨》</a:t>
            </a:r>
          </a:p>
          <a:p>
            <a:pPr>
              <a:defRPr sz="1800">
                <a:solidFill>
                  <a:srgbClr val="2C3742"/>
                </a:solidFill>
              </a:defRPr>
            </a:pPr>
            <a:r>
              <a:t>统编版语文三年级上册 · 第二单元 · 第 6 课（2 课时）</a:t>
            </a:r>
          </a:p>
          <a:p>
            <a:pPr>
              <a:defRPr sz="1400">
                <a:solidFill>
                  <a:srgbClr val="2C3742"/>
                </a:solidFill>
              </a:defRPr>
            </a:pPr>
            <a:r>
              <a:t>大单元情境任务：秋日来信 · 做一份"秋天的纪念册" ｜ 授课：林老师教研室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一、情境导入 · 秋日来信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亲爱的小探险家们：秋姑娘寄来一封信，藏在今天的课文里，谁能先找到钥匙？</a:t>
            </a:r>
          </a:p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任务发布：读课文 → 找"钥匙" → 摘"颜色" → 品"气味" → 写"秋声"，完成秋天的纪念册！</a:t>
            </a:r>
          </a:p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学习路径：初读闯关（字词） → 品读探秘（五彩秋色+丰收气味） → 拓展迁移（小练笔） → 板书总结（分层作业）。</a:t>
            </a:r>
          </a:p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课堂约定：朗读有姿势，发言举小手，同桌互相评，精彩加星章。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二、核心素养学习目标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011680"/>
          </a:xfrm>
          <a:prstGeom prst="roundRect">
            <a:avLst/>
          </a:prstGeom>
          <a:solidFill>
            <a:srgbClr val="FFECDC"/>
          </a:solidFill>
          <a:ln>
            <a:solidFill>
              <a:srgbClr val="FF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47828"/>
                </a:solidFill>
              </a:defRPr>
            </a:pPr>
            <a:r>
              <a:t>目标一 · 文化自信与审美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感受秋天之美，体会语言文字的温度，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热爱自然、热爱生活。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011680"/>
          </a:xfrm>
          <a:prstGeom prst="roundRect">
            <a:avLst/>
          </a:prstGeom>
          <a:solidFill>
            <a:srgbClr val="DEEBF7"/>
          </a:solidFill>
          <a:ln>
            <a:solidFill>
              <a:srgbClr val="DE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目标二 · 语言运用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有感情朗读课文，积累"五彩缤纷"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等优美词句并尝试运用。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303520" cy="2011680"/>
          </a:xfrm>
          <a:prstGeom prst="roundRect">
            <a:avLst/>
          </a:prstGeom>
          <a:solidFill>
            <a:srgbClr val="E2F0E0"/>
          </a:solidFill>
          <a:ln>
            <a:solidFill>
              <a:srgbClr val="E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79056"/>
                </a:solidFill>
              </a:defRPr>
            </a:pPr>
            <a:r>
              <a:t>目标三 · 思维能力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借助关键句理解段意，发现课文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"总分"结构与比喻句的妙处。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303520" cy="2011680"/>
          </a:xfrm>
          <a:prstGeom prst="roundRect">
            <a:avLst/>
          </a:prstGeom>
          <a:solidFill>
            <a:srgbClr val="FAF0E6"/>
          </a:solidFill>
          <a:ln>
            <a:solidFill>
              <a:srgbClr val="FA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D7D31"/>
                </a:solidFill>
              </a:defRPr>
            </a:pPr>
            <a:r>
              <a:t>目标四 · 审美创造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仿写"秋天的雨还藏着什么气味"，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完成秋日小练笔与纪念册一页。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任务一 · 初读闯关：字词小侦探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089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生字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读音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识记妙招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闯关词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/>
                        <a:t>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shi（轻声）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钥匙是金属，所以是"匕"加金属旁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钥匙 · 一串钥匙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/>
                        <a:t>缤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bīn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绞丝旁+宾，丝线多彩=五彩缤纷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五彩缤纷 · 缤纷世界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/>
                        <a:t>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méi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木字旁+"文"，一枚果子一枚邮票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一枚邮票 · 不胜枚举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/>
                        <a:t>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lǎ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口字旁，喇叭要用嘴吹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喇叭 · 小喇叭广播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/>
                        <a:t>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hòu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"厂"下一盆"子"，厚礼厚情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丰厚 · 厚厚的地毯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200"/>
                        <a:t>曲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qū / qǔ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弯弯曲曲 qū，一支歌曲 qǔ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丰收的歌乐曲 yuè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任务二 · 品读探秘：五彩缤纷的秋色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742"/>
                </a:solidFill>
              </a:defRPr>
            </a:pPr>
            <a:r>
              <a:t>朗读第 2 自然段：秋天的雨，有一盒五彩缤纷的颜料。它把黄色给了银杏树，把红色给了枫树，金黄色是给田野的，橙红色是给果树的……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2651760" cy="3108960"/>
          </a:xfrm>
          <a:prstGeom prst="roundRect">
            <a:avLst/>
          </a:prstGeom>
          <a:solidFill>
            <a:srgbClr val="FFF3B4"/>
          </a:solidFill>
          <a:ln>
            <a:solidFill>
              <a:srgbClr val="FFF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E8214"/>
                </a:solidFill>
              </a:defRPr>
            </a:pPr>
            <a:r>
              <a:t>银杏黄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黄黄的叶子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像一把把小扇子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扇哪扇哪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扇走了夏天的炎热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651760"/>
            <a:ext cx="2651760" cy="3108960"/>
          </a:xfrm>
          <a:prstGeom prst="roundRect">
            <a:avLst/>
          </a:prstGeom>
          <a:solidFill>
            <a:srgbClr val="FFDCD2"/>
          </a:solidFill>
          <a:ln>
            <a:solidFill>
              <a:srgbClr val="F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84632"/>
                </a:solidFill>
              </a:defRPr>
            </a:pPr>
            <a:r>
              <a:t>枫叶红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红红的枫叶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像一枚枚邮票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飘哇飘哇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邮来了秋天的凉爽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2651760" cy="3108960"/>
          </a:xfrm>
          <a:prstGeom prst="roundRect">
            <a:avLst/>
          </a:prstGeom>
          <a:solidFill>
            <a:srgbClr val="FFECBE"/>
          </a:solidFill>
          <a:ln>
            <a:solidFill>
              <a:srgbClr val="FFE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821E"/>
                </a:solidFill>
              </a:defRPr>
            </a:pPr>
            <a:r>
              <a:t>田野金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金黄色的田野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像金色的海洋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翻起波浪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翻出丰收的歌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651760"/>
            <a:ext cx="2286000" cy="3108960"/>
          </a:xfrm>
          <a:prstGeom prst="roundRect">
            <a:avLst/>
          </a:prstGeom>
          <a:solidFill>
            <a:srgbClr val="FFE2C8"/>
          </a:solidFill>
          <a:ln>
            <a:solidFill>
              <a:srgbClr val="FFE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26E1E"/>
                </a:solidFill>
              </a:defRPr>
            </a:pPr>
            <a:r>
              <a:t>果树橙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橙红色果树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橘子柿子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你挤我碰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争着要人去摘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任务三 · 品读探秘：秋雨里的气味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742"/>
                </a:solidFill>
              </a:defRPr>
            </a:pPr>
            <a:r>
              <a:t>朗读第 3 自然段：秋天的雨，藏着非常好闻的气味。梨香香的，菠萝甜甜的，还有苹果、橘子，好多好多香甜的气味，都躲在小雨滴里呢！</a:t>
            </a:r>
          </a:p>
          <a:p>
            <a:pPr>
              <a:spcAft>
                <a:spcPts val="600"/>
              </a:spcAft>
              <a:defRPr sz="1600">
                <a:solidFill>
                  <a:srgbClr val="2C3742"/>
                </a:solidFill>
              </a:defRPr>
            </a:pPr>
            <a:r>
              <a:t>换词比较："躲"字换成"有"字好不好？（"躲"字让气味像小朋友捉迷藏，秋天一下子变得淘气可爱。）</a:t>
            </a:r>
          </a:p>
          <a:p>
            <a:pPr>
              <a:spcAft>
                <a:spcPts val="600"/>
              </a:spcAft>
              <a:defRPr sz="1600">
                <a:solidFill>
                  <a:srgbClr val="2C3742"/>
                </a:solidFill>
              </a:defRPr>
            </a:pPr>
            <a:r>
              <a:t>迁移想象：秋天的雨还藏着哪些气味？（桂花、稻谷、糖炒栗子、烤红薯……）用"……的，……的，还有……"说句子。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097280"/>
          </a:xfrm>
          <a:prstGeom prst="roundRect">
            <a:avLst/>
          </a:prstGeom>
          <a:solidFill>
            <a:srgbClr val="FFECDC"/>
          </a:solidFill>
          <a:ln>
            <a:solidFill>
              <a:srgbClr val="FFE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47828"/>
                </a:solidFill>
              </a:defRPr>
            </a:pPr>
            <a:r>
              <a:t>句式迁移练笔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秋天的雨还藏着好多气味：桂花香香的，稻谷清清的，还有糖炒栗子、烤红薯，好多好多丰收的气味，都躲在小雨滴里呢！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任务四 · 悟情升华：秋天的雨是钥匙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齐读第 4 自然段：秋天的雨，有一把金色的钥匙。它带着清凉和温柔，趁你没留意，把秋天的大门打开了。</a:t>
            </a:r>
          </a:p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思考讨论：为什么说秋雨是"钥匙"？（一场秋雨一场凉，秋雨一来，丰收与团圆的季节就被打开了。）</a:t>
            </a:r>
          </a:p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小练笔（纪念册第 3 页）：写 2-3 句"秋天的雨还像什么"，用上比喻句：秋天的雨像____，它____。</a:t>
            </a:r>
          </a:p>
          <a:p>
            <a:pPr>
              <a:spcAft>
                <a:spcPts val="600"/>
              </a:spcAft>
              <a:defRPr sz="1700">
                <a:solidFill>
                  <a:srgbClr val="2C3742"/>
                </a:solidFill>
              </a:defRPr>
            </a:pPr>
            <a:r>
              <a:t>朗读展示：小组合作配乐朗读全文，评选"最美秋声朗读者"。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拓展迁移 · 秋日纪念册小练笔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8/10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412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纪念册页面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任务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评价标准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分层作业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/>
                        <a:t>第 1 页 五彩秋色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画一画+写 3 个颜色词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用上"五彩缤纷、扇哪扇哪"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基础：抄写词语表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/>
                        <a:t>第 2 页 秋雨之声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摘抄 1 个拟人句并仿写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句子完整，有想象力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进阶：仿写 2 个比喻句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/>
                        <a:t>第 3 页 气味地图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写 3 种秋天气味的小段落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用上"……的，……的"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拓展：读《秋天的信》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/>
                        <a:t>第 4 页 秋声采集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写 2-3 句小诗"秋天的雨像…"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有真情实感，朗读给家人听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亲子：和爸妈寻秋打卡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板书设计 · 结构化总结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Oval 4"/>
          <p:cNvSpPr/>
          <p:nvPr/>
        </p:nvSpPr>
        <p:spPr>
          <a:xfrm>
            <a:off x="11460175" y="6144768"/>
            <a:ext cx="457200" cy="457200"/>
          </a:xfrm>
          <a:prstGeom prst="ellipse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72800" cy="1188720"/>
          </a:xfrm>
          <a:prstGeom prst="roundRect">
            <a:avLst/>
          </a:prstGeom>
          <a:solidFill>
            <a:srgbClr val="D47828"/>
          </a:solidFill>
          <a:ln>
            <a:solidFill>
              <a:srgbClr val="D47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《秋天的雨》 一把钥匙 → 一盒颜料 → 好闻气味 → 金色喇叭 → 丰收的歌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总（钥匙） → 分（颜色 · 气味 · 声音） → 总（丰收的歌） ｜ 比喻 · 拟人 · 总分结构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3474720" cy="2560320"/>
          </a:xfrm>
          <a:prstGeom prst="roundRect">
            <a:avLst/>
          </a:prstGeom>
          <a:solidFill>
            <a:srgbClr val="FFF3B4"/>
          </a:solidFill>
          <a:ln>
            <a:solidFill>
              <a:srgbClr val="FFF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五彩缤纷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黄 银杏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红 枫叶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金 田野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橙 果树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474720" cy="2560320"/>
          </a:xfrm>
          <a:prstGeom prst="roundRect">
            <a:avLst/>
          </a:prstGeom>
          <a:solidFill>
            <a:srgbClr val="FFE2D2"/>
          </a:solidFill>
          <a:ln>
            <a:solidFill>
              <a:srgbClr val="FF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好闻气味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梨 香香的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菠萝 甜甜的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苹果 橘子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躲 小雨滴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926080"/>
            <a:ext cx="3383280" cy="2560320"/>
          </a:xfrm>
          <a:prstGeom prst="roundRect">
            <a:avLst/>
          </a:prstGeom>
          <a:solidFill>
            <a:srgbClr val="E2F0E0"/>
          </a:solidFill>
          <a:ln>
            <a:solidFill>
              <a:srgbClr val="E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秋的声音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黄叶 小扇子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枫叶 邮票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田野 海洋</a:t>
            </a:r>
          </a:p>
          <a:p>
            <a:pPr>
              <a:defRPr sz="1100">
                <a:solidFill>
                  <a:srgbClr val="2C3742"/>
                </a:solidFill>
              </a:defRPr>
            </a:pPr>
            <a:r>
              <a:t>喇叭 丰收歌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封底 · 秋天的纪念册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742"/>
                </a:solidFill>
              </a:defRPr>
            </a:pPr>
            <a:r>
              <a:t>统编版语文三年级上册 · 《秋天的雨》公开课课件（AI 原创可编辑示例）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9456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C3742"/>
                </a:solidFill>
              </a:defRPr>
            </a:pPr>
            <a:r>
              <a:t>让每个孩子把秋天带回家。</a:t>
            </a:r>
          </a:p>
          <a:p>
            <a:pPr>
              <a:spcAft>
                <a:spcPts val="600"/>
              </a:spcAft>
              <a:defRPr sz="1900">
                <a:solidFill>
                  <a:srgbClr val="2C3742"/>
                </a:solidFill>
              </a:defRPr>
            </a:pPr>
            <a:r>
              <a:t>完整产品包：可编辑 PPTX + 新课标教案 + 逐页逐字稿（配套 Word）。</a:t>
            </a:r>
          </a:p>
          <a:p>
            <a:pPr>
              <a:spcAft>
                <a:spcPts val="600"/>
              </a:spcAft>
              <a:defRPr sz="1900">
                <a:solidFill>
                  <a:srgbClr val="2C3742"/>
                </a:solidFill>
              </a:defRPr>
            </a:pPr>
            <a:r>
              <a:t>配套资料：字词卡 · 小练笔单 · 板书贴纸 · 家长寻秋打卡表。</a:t>
            </a:r>
          </a:p>
          <a:p>
            <a:pPr>
              <a:spcAft>
                <a:spcPts val="600"/>
              </a:spcAft>
              <a:defRPr sz="1900">
                <a:solidFill>
                  <a:srgbClr val="2C3742"/>
                </a:solidFill>
              </a:defRPr>
            </a:pPr>
            <a:r>
              <a:t>林老师教研室 · 2026 新课标大单元情境教学示例（教学演示用，禁止商用转载）。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